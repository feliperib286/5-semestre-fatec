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Divisão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747A"/>
              </a:solidFill>
              <a:effectLst/>
            </c:spPr>
          </c:dPt>
          <c:dPt>
            <c:idx val="1"/>
            <c:bubble3D val="0"/>
            <c:spPr>
              <a:solidFill>
                <a:srgbClr val="F2A54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Treino 80%</c:v>
                </c:pt>
                <c:pt idx="1">
                  <c:v>Teste 20%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0B3C4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Arial"/>
              </a:rPr>
              <a:t>Taxa de acerto nos 20% de teste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Acerto (%)</c:v>
                </c:pt>
              </c:strCache>
            </c:strRef>
          </c:tx>
          <c:spPr>
            <a:solidFill>
              <a:srgbClr val="7FB8B5"/>
            </a:solidFill>
            <a:effectLst/>
          </c:spPr>
          <c:invertIfNegative val="0"/>
          <c:dLbls>
            <c:numFmt formatCode="0.##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3C4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B8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747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Rede Neural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</c:v>
                </c:pt>
                <c:pt idx="1">
                  <c:v>74.32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b="1" i="0" strike="noStrike" sz="1400" u="none">
                  <a:solidFill>
                    <a:srgbClr val="0B3C4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B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projeto final: um sistema que prevê não só SE um funcionário vai faltar, mas QUÃO GRAVE será a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Planear a substituição de forma inteligente: saber se a pessoa sai por um par de horas ou falta o dia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Classificação multiclasse: 0 = não falta, 1 = falta médica curta (até 2h), 2 = falta o dia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função que transforma as horas de falta nas 3 classes e a linha que cria a coluna Categoria_Alvo.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Dados: 740 funcionários com idade, distância, filhos e motivo da doença. Preparação: remover a resposta, separar treino/teste e padronizar com StandardScaler.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passos: remover a coluna de horas, dividir treino/teste com stratify e normalizar com StandardScaler.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modelo: Rede Neural Artificial usada para avaliar o aprendizado e gerar as curvas.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Parâmetros da MLP: hidden_layer_sizes, early_stopping, validation_fraction e n_iter_no_change.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Random Forest foi o melhor resultado absoluto. Em vez de matemática complexa, árvores fazem perguntas lógicas e votam.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truque do Random Forest é o class_weight='balanced'. Depois treinamos, avaliamos e salvamos os arquivos .pkl.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Gráficos extraídos da Rede Neural. O Early Stopping parou o treino na época 40. As curvas mostradas são ilustrativas; troque pelos gráficos reais do notebook se desejar.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curvas reais vêm dos atributos loss_curve_ e validation_scores_ da MLP.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 Neural ≈ 63%; Random Forest 74,32%. A Matriz de Confusão é o 'marcador do jogo'.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traz transparência para a gestão: o RH pode decidir na hora. O 'Teste do João' prova isso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vivo: muda apenas o motivo da falta e observamos a previsão do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Resumo: melhor modelo, transparência para o RH e modelo pronto para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titulo"/>
          <p:cNvSpPr txBox="1"/>
          <p:nvPr/>
        </p:nvSpPr>
        <p:spPr>
          <a:xfrm>
            <a:off x="548640" y="1097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Previsão de Absenteísmo no Trabalho</a:t>
            </a:r>
            <a:endParaRPr lang="en-US" sz="3800" dirty="0"/>
          </a:p>
        </p:txBody>
      </p:sp>
      <p:sp>
        <p:nvSpPr>
          <p:cNvPr id="3" name="a1_sub"/>
          <p:cNvSpPr txBox="1"/>
          <p:nvPr/>
        </p:nvSpPr>
        <p:spPr>
          <a:xfrm>
            <a:off x="548640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FB8B5"/>
                </a:solidFill>
              </a:rPr>
              <a:t>Classificação multiclasse com Rede Neural e Random Forest</a:t>
            </a:r>
            <a:endParaRPr lang="en-US" sz="1800" dirty="0"/>
          </a:p>
        </p:txBody>
      </p:sp>
      <p:sp>
        <p:nvSpPr>
          <p:cNvPr id="4" name="a2_autor"/>
          <p:cNvSpPr txBox="1"/>
          <p:nvPr/>
        </p:nvSpPr>
        <p:spPr>
          <a:xfrm>
            <a:off x="548640" y="4023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Felipe Ribeiro de Lima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DSM · 5º Semestre · Projeto Final</a:t>
            </a:r>
            <a:endParaRPr lang="en-US" sz="1400" dirty="0"/>
          </a:p>
        </p:txBody>
      </p:sp>
      <p:sp>
        <p:nvSpPr>
          <p:cNvPr id="5" name="a1_big"/>
          <p:cNvSpPr/>
          <p:nvPr/>
        </p:nvSpPr>
        <p:spPr>
          <a:xfrm>
            <a:off x="5760720" y="822960"/>
            <a:ext cx="3017520" cy="3017520"/>
          </a:xfrm>
          <a:prstGeom prst="ellipse">
            <a:avLst/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</p:spPr>
      </p:sp>
      <p:pic>
        <p:nvPicPr>
          <p:cNvPr id="6" name="a1_big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600200"/>
            <a:ext cx="1463040" cy="1463040"/>
          </a:xfrm>
          <a:prstGeom prst="rect">
            <a:avLst/>
          </a:prstGeom>
        </p:spPr>
      </p:pic>
      <p:sp>
        <p:nvSpPr>
          <p:cNvPr id="7" name="a2_ic1_c"/>
          <p:cNvSpPr/>
          <p:nvPr/>
        </p:nvSpPr>
        <p:spPr>
          <a:xfrm>
            <a:off x="5577840" y="3383280"/>
            <a:ext cx="822960" cy="8229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8" name="a2_ic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039" y="3605479"/>
            <a:ext cx="378562" cy="378562"/>
          </a:xfrm>
          <a:prstGeom prst="rect">
            <a:avLst/>
          </a:prstGeom>
        </p:spPr>
      </p:pic>
      <p:sp>
        <p:nvSpPr>
          <p:cNvPr id="9" name="a2_ic2_c"/>
          <p:cNvSpPr/>
          <p:nvPr/>
        </p:nvSpPr>
        <p:spPr>
          <a:xfrm>
            <a:off x="8138160" y="54864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a2_ic2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59" y="770839"/>
            <a:ext cx="378562" cy="378562"/>
          </a:xfrm>
          <a:prstGeom prst="rect">
            <a:avLst/>
          </a:prstGeom>
        </p:spPr>
      </p:pic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e a motivação</a:t>
            </a:r>
            <a:endParaRPr lang="en-US" sz="3400" dirty="0"/>
          </a:p>
        </p:txBody>
      </p:sp>
      <p:sp>
        <p:nvSpPr>
          <p:cNvPr id="3" name="a1_txt"/>
          <p:cNvSpPr txBox="1"/>
          <p:nvPr/>
        </p:nvSpPr>
        <p:spPr>
          <a:xfrm>
            <a:off x="457200" y="12801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3C49"/>
                </a:solidFill>
              </a:rPr>
              <a:t>No dia a dia do RH, faltas de surpresa desorganizam as equipas e prejudicam a produtividade.</a:t>
            </a:r>
            <a:endParaRPr lang="en-US" sz="1800" dirty="0"/>
          </a:p>
        </p:txBody>
      </p:sp>
      <p:sp>
        <p:nvSpPr>
          <p:cNvPr id="4" name="a1_warn_c"/>
          <p:cNvSpPr/>
          <p:nvPr/>
        </p:nvSpPr>
        <p:spPr>
          <a:xfrm>
            <a:off x="457200" y="2834640"/>
            <a:ext cx="914400" cy="9144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5" name="a1_warn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081528"/>
            <a:ext cx="420624" cy="420624"/>
          </a:xfrm>
          <a:prstGeom prst="rect">
            <a:avLst/>
          </a:prstGeom>
        </p:spPr>
      </p:pic>
      <p:sp>
        <p:nvSpPr>
          <p:cNvPr id="6" name="a1_warnt"/>
          <p:cNvSpPr txBox="1"/>
          <p:nvPr/>
        </p:nvSpPr>
        <p:spPr>
          <a:xfrm>
            <a:off x="1554480" y="2926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7F"/>
                </a:solidFill>
              </a:rPr>
              <a:t>Faltas inesperadas = equipa desorganizada</a:t>
            </a:r>
            <a:endParaRPr lang="en-US" sz="1400" dirty="0"/>
          </a:p>
        </p:txBody>
      </p:sp>
      <p:sp>
        <p:nvSpPr>
          <p:cNvPr id="7" name="a2_cardA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2_cA_c"/>
          <p:cNvSpPr/>
          <p:nvPr/>
        </p:nvSpPr>
        <p:spPr>
          <a:xfrm>
            <a:off x="4892040" y="1600200"/>
            <a:ext cx="731520" cy="731520"/>
          </a:xfrm>
          <a:prstGeom prst="ellipse">
            <a:avLst/>
          </a:prstGeom>
          <a:solidFill>
            <a:srgbClr val="DCE6E7"/>
          </a:solidFill>
          <a:ln w="12700">
            <a:solidFill>
              <a:srgbClr val="DCE6E7"/>
            </a:solidFill>
            <a:prstDash val="solid"/>
          </a:ln>
        </p:spPr>
      </p:sp>
      <p:pic>
        <p:nvPicPr>
          <p:cNvPr id="9" name="a2_cA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550" y="1797710"/>
            <a:ext cx="336499" cy="336499"/>
          </a:xfrm>
          <a:prstGeom prst="rect">
            <a:avLst/>
          </a:prstGeom>
        </p:spPr>
      </p:pic>
      <p:sp>
        <p:nvSpPr>
          <p:cNvPr id="10" name="a2_tA"/>
          <p:cNvSpPr txBox="1"/>
          <p:nvPr/>
        </p:nvSpPr>
        <p:spPr>
          <a:xfrm>
            <a:off x="5806440" y="14630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A7F"/>
                </a:solidFill>
              </a:rPr>
              <a:t>Antes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3C49"/>
                </a:solidFill>
              </a:rPr>
              <a:t>Adivinhar se o funcionário vai faltar</a:t>
            </a:r>
            <a:endParaRPr lang="en-US" sz="1600" dirty="0"/>
          </a:p>
        </p:txBody>
      </p:sp>
      <p:sp>
        <p:nvSpPr>
          <p:cNvPr id="11" name="a3_cardB"/>
          <p:cNvSpPr/>
          <p:nvPr/>
        </p:nvSpPr>
        <p:spPr>
          <a:xfrm>
            <a:off x="4663440" y="31089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3_cB_c"/>
          <p:cNvSpPr/>
          <p:nvPr/>
        </p:nvSpPr>
        <p:spPr>
          <a:xfrm>
            <a:off x="4892040" y="342900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3" name="a3_cB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550" y="3626510"/>
            <a:ext cx="336499" cy="336499"/>
          </a:xfrm>
          <a:prstGeom prst="rect">
            <a:avLst/>
          </a:prstGeom>
        </p:spPr>
      </p:pic>
      <p:sp>
        <p:nvSpPr>
          <p:cNvPr id="14" name="a3_tB"/>
          <p:cNvSpPr txBox="1"/>
          <p:nvPr/>
        </p:nvSpPr>
        <p:spPr>
          <a:xfrm>
            <a:off x="5806440" y="32461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</a:rPr>
              <a:t>Objetivo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Prever a gravidade: algumas horas ou o dia inteiro?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caixas possíveis</a:t>
            </a:r>
            <a:endParaRPr lang="en-US" sz="3400" dirty="0"/>
          </a:p>
        </p:txBody>
      </p:sp>
      <p:sp>
        <p:nvSpPr>
          <p:cNvPr id="3" name="a1_k0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_k0ic_c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</p:spPr>
      </p:sp>
      <p:pic>
        <p:nvPicPr>
          <p:cNvPr id="5" name="a1_k0ic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76679"/>
            <a:ext cx="378562" cy="378562"/>
          </a:xfrm>
          <a:prstGeom prst="rect">
            <a:avLst/>
          </a:prstGeom>
        </p:spPr>
      </p:pic>
      <p:sp>
        <p:nvSpPr>
          <p:cNvPr id="6" name="a1_k0n"/>
          <p:cNvSpPr txBox="1"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47A"/>
                </a:solidFill>
              </a:rPr>
              <a:t>Classe 0</a:t>
            </a:r>
            <a:endParaRPr lang="en-US" sz="1400" dirty="0"/>
          </a:p>
        </p:txBody>
      </p:sp>
      <p:sp>
        <p:nvSpPr>
          <p:cNvPr id="7" name="a1_k0t"/>
          <p:cNvSpPr txBox="1"/>
          <p:nvPr/>
        </p:nvSpPr>
        <p:spPr>
          <a:xfrm>
            <a:off x="64008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Não vai faltar</a:t>
            </a:r>
            <a:endParaRPr lang="en-US" sz="2000" dirty="0"/>
          </a:p>
        </p:txBody>
      </p:sp>
      <p:sp>
        <p:nvSpPr>
          <p:cNvPr id="8" name="a2_k1"/>
          <p:cNvSpPr/>
          <p:nvPr/>
        </p:nvSpPr>
        <p:spPr>
          <a:xfrm>
            <a:off x="329184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2_k1ic_c"/>
          <p:cNvSpPr/>
          <p:nvPr/>
        </p:nvSpPr>
        <p:spPr>
          <a:xfrm>
            <a:off x="3474720" y="1554480"/>
            <a:ext cx="822960" cy="8229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a2_k1ic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919" y="1776679"/>
            <a:ext cx="378562" cy="378562"/>
          </a:xfrm>
          <a:prstGeom prst="rect">
            <a:avLst/>
          </a:prstGeom>
        </p:spPr>
      </p:pic>
      <p:sp>
        <p:nvSpPr>
          <p:cNvPr id="11" name="a2_k1n"/>
          <p:cNvSpPr txBox="1"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410"/>
                </a:solidFill>
              </a:rPr>
              <a:t>Classe 1</a:t>
            </a:r>
            <a:endParaRPr lang="en-US" sz="1400" dirty="0"/>
          </a:p>
        </p:txBody>
      </p:sp>
      <p:sp>
        <p:nvSpPr>
          <p:cNvPr id="12" name="a2_k1t"/>
          <p:cNvSpPr txBox="1"/>
          <p:nvPr/>
        </p:nvSpPr>
        <p:spPr>
          <a:xfrm>
            <a:off x="347472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Falta médica curta</a:t>
            </a:r>
            <a:endParaRPr lang="en-US" sz="2000" dirty="0"/>
          </a:p>
        </p:txBody>
      </p:sp>
      <p:sp>
        <p:nvSpPr>
          <p:cNvPr id="13" name="a3_k2"/>
          <p:cNvSpPr/>
          <p:nvPr/>
        </p:nvSpPr>
        <p:spPr>
          <a:xfrm>
            <a:off x="612648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3_k2ic_c"/>
          <p:cNvSpPr/>
          <p:nvPr/>
        </p:nvSpPr>
        <p:spPr>
          <a:xfrm>
            <a:off x="6309360" y="1554480"/>
            <a:ext cx="822960" cy="8229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5" name="a3_k2ic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9" y="1776679"/>
            <a:ext cx="378562" cy="378562"/>
          </a:xfrm>
          <a:prstGeom prst="rect">
            <a:avLst/>
          </a:prstGeom>
        </p:spPr>
      </p:pic>
      <p:sp>
        <p:nvSpPr>
          <p:cNvPr id="16" name="a3_k2n"/>
          <p:cNvSpPr txBox="1"/>
          <p:nvPr/>
        </p:nvSpPr>
        <p:spPr>
          <a:xfrm>
            <a:off x="63093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</a:rPr>
              <a:t>Classe 2</a:t>
            </a:r>
            <a:endParaRPr lang="en-US" sz="1400" dirty="0"/>
          </a:p>
        </p:txBody>
      </p:sp>
      <p:sp>
        <p:nvSpPr>
          <p:cNvPr id="17" name="a3_k2t"/>
          <p:cNvSpPr txBox="1"/>
          <p:nvPr/>
        </p:nvSpPr>
        <p:spPr>
          <a:xfrm>
            <a:off x="630936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Falta o dia todo</a:t>
            </a:r>
            <a:endParaRPr lang="en-US" sz="2000" dirty="0"/>
          </a:p>
        </p:txBody>
      </p:sp>
      <p:sp>
        <p:nvSpPr>
          <p:cNvPr id="18" name="a4_foot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7F"/>
                </a:solidFill>
              </a:rPr>
              <a:t>Aprendizado supervisionado: a máquina olha para a “ficha” completa e escolhe uma caixa. A classe 1 vai até 2 horas.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criando as 3 classes</a:t>
            </a:r>
            <a:endParaRPr lang="en-US" sz="3400" dirty="0"/>
          </a:p>
        </p:txBody>
      </p:sp>
      <p:sp>
        <p:nvSpPr>
          <p:cNvPr id="3" name="a1_cp"/>
          <p:cNvSpPr/>
          <p:nvPr/>
        </p:nvSpPr>
        <p:spPr>
          <a:xfrm>
            <a:off x="457200" y="1188720"/>
            <a:ext cx="5760720" cy="1490472"/>
          </a:xfrm>
          <a:prstGeom prst="roundRect">
            <a:avLst>
              <a:gd name="adj" fmla="val 6135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_cc"/>
          <p:cNvSpPr txBox="1"/>
          <p:nvPr/>
        </p:nvSpPr>
        <p:spPr>
          <a:xfrm>
            <a:off x="594360" y="1298448"/>
            <a:ext cx="54864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classificar_ausencia(horas):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horas == 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50" i="1" dirty="0">
                <a:solidFill>
                  <a:srgbClr val="7FB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Sem ausência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horas &lt;= 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50" i="1" dirty="0">
                <a:solidFill>
                  <a:srgbClr val="7FB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Falta médica parcial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50" i="1" dirty="0">
                <a:solidFill>
                  <a:srgbClr val="7FB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Falta integral</a:t>
            </a:r>
            <a:endParaRPr lang="en-US" sz="1050" dirty="0"/>
          </a:p>
        </p:txBody>
      </p:sp>
      <p:sp>
        <p:nvSpPr>
          <p:cNvPr id="5" name="a1_np"/>
          <p:cNvSpPr/>
          <p:nvPr/>
        </p:nvSpPr>
        <p:spPr>
          <a:xfrm>
            <a:off x="6400800" y="1188720"/>
            <a:ext cx="2286000" cy="1490472"/>
          </a:xfrm>
          <a:prstGeom prst="roundRect">
            <a:avLst>
              <a:gd name="adj" fmla="val 6135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1_nt"/>
          <p:cNvSpPr txBox="1"/>
          <p:nvPr/>
        </p:nvSpPr>
        <p:spPr>
          <a:xfrm>
            <a:off x="6537960" y="1261872"/>
            <a:ext cx="20116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regra de negócio: 0 h = classe 0, até 2 h = classe 1, mais que isso = classe 2.</a:t>
            </a:r>
            <a:endParaRPr lang="en-US" sz="1200" dirty="0"/>
          </a:p>
        </p:txBody>
      </p:sp>
      <p:sp>
        <p:nvSpPr>
          <p:cNvPr id="7" name="a2_cp"/>
          <p:cNvSpPr/>
          <p:nvPr/>
        </p:nvSpPr>
        <p:spPr>
          <a:xfrm>
            <a:off x="457200" y="2816352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2_cc"/>
          <p:cNvSpPr txBox="1"/>
          <p:nvPr/>
        </p:nvSpPr>
        <p:spPr>
          <a:xfrm>
            <a:off x="594360" y="292608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dados[</a:t>
            </a:r>
            <a:pPr indent="0" marL="0"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'Categoria_Alvo'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dados[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'Absenteeism time in hours'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].apply(classificar_ausencia)</a:t>
            </a:r>
            <a:endParaRPr lang="en-US" sz="1050" dirty="0"/>
          </a:p>
        </p:txBody>
      </p:sp>
      <p:sp>
        <p:nvSpPr>
          <p:cNvPr id="9" name="a2_np"/>
          <p:cNvSpPr/>
          <p:nvPr/>
        </p:nvSpPr>
        <p:spPr>
          <a:xfrm>
            <a:off x="6400800" y="2816352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2_nt"/>
          <p:cNvSpPr txBox="1"/>
          <p:nvPr/>
        </p:nvSpPr>
        <p:spPr>
          <a:xfrm>
            <a:off x="6537960" y="2889504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Aplica a regra a cada funcionário e cria a coluna-resposta (o alvo).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e a preparação</a:t>
            </a:r>
            <a:endParaRPr lang="en-US" sz="3400" dirty="0"/>
          </a:p>
        </p:txBody>
      </p:sp>
      <p:sp>
        <p:nvSpPr>
          <p:cNvPr id="3" name="a1_dcard"/>
          <p:cNvSpPr/>
          <p:nvPr/>
        </p:nvSpPr>
        <p:spPr>
          <a:xfrm>
            <a:off x="457200" y="128016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_n740"/>
          <p:cNvSpPr txBox="1"/>
          <p:nvPr/>
        </p:nvSpPr>
        <p:spPr>
          <a:xfrm>
            <a:off x="64008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7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740</a:t>
            </a:r>
            <a:endParaRPr lang="en-US" sz="5400" dirty="0"/>
          </a:p>
        </p:txBody>
      </p:sp>
      <p:sp>
        <p:nvSpPr>
          <p:cNvPr id="5" name="a1_n740l"/>
          <p:cNvSpPr txBox="1"/>
          <p:nvPr/>
        </p:nvSpPr>
        <p:spPr>
          <a:xfrm>
            <a:off x="64008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7F"/>
                </a:solidFill>
              </a:rPr>
              <a:t>funcionários na planilha real</a:t>
            </a:r>
            <a:endParaRPr lang="en-US" sz="1400" dirty="0"/>
          </a:p>
        </p:txBody>
      </p:sp>
      <p:graphicFrame>
        <p:nvGraphicFramePr>
          <p:cNvPr id="6" name="a1_donut" descr=""/>
          <p:cNvGraphicFramePr/>
          <p:nvPr/>
        </p:nvGraphicFramePr>
        <p:xfrm>
          <a:off x="731520" y="2514600"/>
          <a:ext cx="30175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a2_s0"/>
          <p:cNvSpPr/>
          <p:nvPr/>
        </p:nvSpPr>
        <p:spPr>
          <a:xfrm>
            <a:off x="4297680" y="1280160"/>
            <a:ext cx="4389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2_s0ic_c"/>
          <p:cNvSpPr/>
          <p:nvPr/>
        </p:nvSpPr>
        <p:spPr>
          <a:xfrm>
            <a:off x="4434840" y="1463040"/>
            <a:ext cx="658368" cy="658368"/>
          </a:xfrm>
          <a:prstGeom prst="ellipse">
            <a:avLst/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</p:spPr>
      </p:sp>
      <p:pic>
        <p:nvPicPr>
          <p:cNvPr id="9" name="a2_s0ic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99" y="1640799"/>
            <a:ext cx="302849" cy="302849"/>
          </a:xfrm>
          <a:prstGeom prst="rect">
            <a:avLst/>
          </a:prstGeom>
        </p:spPr>
      </p:pic>
      <p:sp>
        <p:nvSpPr>
          <p:cNvPr id="10" name="a2_s0t"/>
          <p:cNvSpPr txBox="1"/>
          <p:nvPr/>
        </p:nvSpPr>
        <p:spPr>
          <a:xfrm>
            <a:off x="5212080" y="1325880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Apagar a resposta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7A7F"/>
                </a:solidFill>
              </a:rPr>
              <a:t>Removemos a coluna “horas faltadas” para a máquina não copiar a resposta.</a:t>
            </a:r>
            <a:endParaRPr lang="en-US" sz="1500" dirty="0"/>
          </a:p>
        </p:txBody>
      </p:sp>
      <p:sp>
        <p:nvSpPr>
          <p:cNvPr id="11" name="a3_s1"/>
          <p:cNvSpPr/>
          <p:nvPr/>
        </p:nvSpPr>
        <p:spPr>
          <a:xfrm>
            <a:off x="4297680" y="2441448"/>
            <a:ext cx="4389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3_s1ic_c"/>
          <p:cNvSpPr/>
          <p:nvPr/>
        </p:nvSpPr>
        <p:spPr>
          <a:xfrm>
            <a:off x="4434840" y="2624328"/>
            <a:ext cx="658368" cy="658368"/>
          </a:xfrm>
          <a:prstGeom prst="ellipse">
            <a:avLst/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</p:spPr>
      </p:sp>
      <p:pic>
        <p:nvPicPr>
          <p:cNvPr id="13" name="a3_s1ic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599" y="2802087"/>
            <a:ext cx="302849" cy="302849"/>
          </a:xfrm>
          <a:prstGeom prst="rect">
            <a:avLst/>
          </a:prstGeom>
        </p:spPr>
      </p:pic>
      <p:sp>
        <p:nvSpPr>
          <p:cNvPr id="14" name="a3_s1t"/>
          <p:cNvSpPr txBox="1"/>
          <p:nvPr/>
        </p:nvSpPr>
        <p:spPr>
          <a:xfrm>
            <a:off x="5212080" y="2487168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Dividir 80% / 20%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7A7F"/>
                </a:solidFill>
              </a:rPr>
              <a:t>80% para estudar e 20% guardados para a prova final.</a:t>
            </a:r>
            <a:endParaRPr lang="en-US" sz="1500" dirty="0"/>
          </a:p>
        </p:txBody>
      </p:sp>
      <p:sp>
        <p:nvSpPr>
          <p:cNvPr id="15" name="a4_s2"/>
          <p:cNvSpPr/>
          <p:nvPr/>
        </p:nvSpPr>
        <p:spPr>
          <a:xfrm>
            <a:off x="4297680" y="3602736"/>
            <a:ext cx="4389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4_s2ic_c"/>
          <p:cNvSpPr/>
          <p:nvPr/>
        </p:nvSpPr>
        <p:spPr>
          <a:xfrm>
            <a:off x="4434840" y="3785616"/>
            <a:ext cx="658368" cy="658368"/>
          </a:xfrm>
          <a:prstGeom prst="ellipse">
            <a:avLst/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</p:spPr>
      </p:sp>
      <p:pic>
        <p:nvPicPr>
          <p:cNvPr id="17" name="a4_s2ic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599" y="3963375"/>
            <a:ext cx="302849" cy="302849"/>
          </a:xfrm>
          <a:prstGeom prst="rect">
            <a:avLst/>
          </a:prstGeom>
        </p:spPr>
      </p:pic>
      <p:sp>
        <p:nvSpPr>
          <p:cNvPr id="18" name="a4_s2t"/>
          <p:cNvSpPr txBox="1"/>
          <p:nvPr/>
        </p:nvSpPr>
        <p:spPr>
          <a:xfrm>
            <a:off x="5212080" y="3648456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StandardScaler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7A7F"/>
                </a:solidFill>
              </a:rPr>
              <a:t>Nivela as escalas: o peso em kg não vale mais que a idade.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preparando os dados</a:t>
            </a:r>
            <a:endParaRPr lang="en-US" sz="3400" dirty="0"/>
          </a:p>
        </p:txBody>
      </p:sp>
      <p:sp>
        <p:nvSpPr>
          <p:cNvPr id="3" name="a1_cp"/>
          <p:cNvSpPr/>
          <p:nvPr/>
        </p:nvSpPr>
        <p:spPr>
          <a:xfrm>
            <a:off x="457200" y="118872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_cc"/>
          <p:cNvSpPr txBox="1"/>
          <p:nvPr/>
        </p:nvSpPr>
        <p:spPr>
          <a:xfrm>
            <a:off x="594360" y="129844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FB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evita vazamento de dados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= dados.drop(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columns=[</a:t>
            </a:r>
            <a:pPr indent="0" marL="0"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'Absenteeism time in hours'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</p:txBody>
      </p:sp>
      <p:sp>
        <p:nvSpPr>
          <p:cNvPr id="5" name="a1_np"/>
          <p:cNvSpPr/>
          <p:nvPr/>
        </p:nvSpPr>
        <p:spPr>
          <a:xfrm>
            <a:off x="6400800" y="1188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1_nt"/>
          <p:cNvSpPr txBox="1"/>
          <p:nvPr/>
        </p:nvSpPr>
        <p:spPr>
          <a:xfrm>
            <a:off x="6537960" y="126187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Apaga a coluna de horas: a máquina não pode copiar a resposta.</a:t>
            </a:r>
            <a:endParaRPr lang="en-US" sz="1200" dirty="0"/>
          </a:p>
        </p:txBody>
      </p:sp>
      <p:sp>
        <p:nvSpPr>
          <p:cNvPr id="7" name="a2_cp"/>
          <p:cNvSpPr/>
          <p:nvPr/>
        </p:nvSpPr>
        <p:spPr>
          <a:xfrm>
            <a:off x="457200" y="233172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2_cc"/>
          <p:cNvSpPr txBox="1"/>
          <p:nvPr/>
        </p:nvSpPr>
        <p:spPr>
          <a:xfrm>
            <a:off x="594360" y="244144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X_treino, X_teste, y_treino, y_teste = train_test_split(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stratify=y)</a:t>
            </a:r>
            <a:endParaRPr lang="en-US" sz="1050" dirty="0"/>
          </a:p>
        </p:txBody>
      </p:sp>
      <p:sp>
        <p:nvSpPr>
          <p:cNvPr id="9" name="a2_np"/>
          <p:cNvSpPr/>
          <p:nvPr/>
        </p:nvSpPr>
        <p:spPr>
          <a:xfrm>
            <a:off x="6400800" y="2331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2_nt"/>
          <p:cNvSpPr txBox="1"/>
          <p:nvPr/>
        </p:nvSpPr>
        <p:spPr>
          <a:xfrm>
            <a:off x="6537960" y="240487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80% para treino, 20% para a prova final. stratify mantém a proporção das classes.</a:t>
            </a:r>
            <a:endParaRPr lang="en-US" sz="1200" dirty="0"/>
          </a:p>
        </p:txBody>
      </p:sp>
      <p:sp>
        <p:nvSpPr>
          <p:cNvPr id="11" name="a3_cp"/>
          <p:cNvSpPr/>
          <p:nvPr/>
        </p:nvSpPr>
        <p:spPr>
          <a:xfrm>
            <a:off x="457200" y="347472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3_cc"/>
          <p:cNvSpPr txBox="1"/>
          <p:nvPr/>
        </p:nvSpPr>
        <p:spPr>
          <a:xfrm>
            <a:off x="594360" y="358444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normalizador = StandardScaler()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X_treino_normalizado = normalizador.fit_transform(X_treino)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X_teste_normalizado = normalizador.transform(X_teste)</a:t>
            </a:r>
            <a:endParaRPr lang="en-US" sz="1050" dirty="0"/>
          </a:p>
        </p:txBody>
      </p:sp>
      <p:sp>
        <p:nvSpPr>
          <p:cNvPr id="13" name="a3_np"/>
          <p:cNvSpPr/>
          <p:nvPr/>
        </p:nvSpPr>
        <p:spPr>
          <a:xfrm>
            <a:off x="6400800" y="3474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3_nt"/>
          <p:cNvSpPr txBox="1"/>
          <p:nvPr/>
        </p:nvSpPr>
        <p:spPr>
          <a:xfrm>
            <a:off x="6537960" y="354787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 nivelador aprende a escala no treino (fit) e só aplica no teste (transform).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Rede Neural: o “cérebro”</a:t>
            </a:r>
            <a:endParaRPr lang="en-US" sz="3400" dirty="0"/>
          </a:p>
        </p:txBody>
      </p:sp>
      <p:pic>
        <p:nvPicPr>
          <p:cNvPr id="3" name="a1_rede" descr="Diagrama da rede neural com duas camadas ocul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583680" cy="2633472"/>
          </a:xfrm>
          <a:prstGeom prst="rect">
            <a:avLst/>
          </a:prstGeom>
        </p:spPr>
      </p:pic>
      <p:sp>
        <p:nvSpPr>
          <p:cNvPr id="4" name="a2_rc"/>
          <p:cNvSpPr/>
          <p:nvPr/>
        </p:nvSpPr>
        <p:spPr>
          <a:xfrm>
            <a:off x="7269480" y="1188720"/>
            <a:ext cx="1417320" cy="2633472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2_rbrain_c"/>
          <p:cNvSpPr/>
          <p:nvPr/>
        </p:nvSpPr>
        <p:spPr>
          <a:xfrm>
            <a:off x="7424928" y="1371600"/>
            <a:ext cx="1097280" cy="1097280"/>
          </a:xfrm>
          <a:prstGeom prst="ellipse">
            <a:avLst/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</p:spPr>
      </p:sp>
      <p:pic>
        <p:nvPicPr>
          <p:cNvPr id="6" name="a2_rbrain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194" y="1667866"/>
            <a:ext cx="504749" cy="504749"/>
          </a:xfrm>
          <a:prstGeom prst="rect">
            <a:avLst/>
          </a:prstGeom>
        </p:spPr>
      </p:pic>
      <p:sp>
        <p:nvSpPr>
          <p:cNvPr id="7" name="a2_rt"/>
          <p:cNvSpPr txBox="1"/>
          <p:nvPr/>
        </p:nvSpPr>
        <p:spPr>
          <a:xfrm>
            <a:off x="7360920" y="26060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2 camadas ocultas</a:t>
            </a:r>
            <a:endParaRPr lang="en-US" sz="1300" dirty="0"/>
          </a:p>
        </p:txBody>
      </p:sp>
      <p:sp>
        <p:nvSpPr>
          <p:cNvPr id="8" name="a3_rtxt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C49"/>
                </a:solidFill>
              </a:rPr>
              <a:t>Recebe as informações, cruza todos os dados nas camadas ocultas (128 e 64 neurónios) e entrega a decisão nas 3 opções de falta.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a Rede Neural</a:t>
            </a:r>
            <a:endParaRPr lang="en-US" sz="3400" dirty="0"/>
          </a:p>
        </p:txBody>
      </p:sp>
      <p:sp>
        <p:nvSpPr>
          <p:cNvPr id="3" name="a1_cp"/>
          <p:cNvSpPr/>
          <p:nvPr/>
        </p:nvSpPr>
        <p:spPr>
          <a:xfrm>
            <a:off x="457200" y="1188720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_cc"/>
          <p:cNvSpPr txBox="1"/>
          <p:nvPr/>
        </p:nvSpPr>
        <p:spPr>
          <a:xfrm>
            <a:off x="594360" y="1298448"/>
            <a:ext cx="5486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rede_neural = MLPClassifier(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hidden_layer_sizes=(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activation=</a:t>
            </a:r>
            <a:pPr indent="0" marL="0"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'relu'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alpha=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max_iter=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50" dirty="0"/>
          </a:p>
        </p:txBody>
      </p:sp>
      <p:sp>
        <p:nvSpPr>
          <p:cNvPr id="5" name="a1_np"/>
          <p:cNvSpPr/>
          <p:nvPr/>
        </p:nvSpPr>
        <p:spPr>
          <a:xfrm>
            <a:off x="6400800" y="118872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1_nt"/>
          <p:cNvSpPr txBox="1"/>
          <p:nvPr/>
        </p:nvSpPr>
        <p:spPr>
          <a:xfrm>
            <a:off x="6537960" y="1261872"/>
            <a:ext cx="20116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Duas camadas ocultas (128 e 64 neurónios) e limite de 2000 épocas.</a:t>
            </a:r>
            <a:endParaRPr lang="en-US" sz="1200" dirty="0"/>
          </a:p>
        </p:txBody>
      </p:sp>
      <p:sp>
        <p:nvSpPr>
          <p:cNvPr id="7" name="a2_cp"/>
          <p:cNvSpPr/>
          <p:nvPr/>
        </p:nvSpPr>
        <p:spPr>
          <a:xfrm>
            <a:off x="457200" y="246888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2_cc"/>
          <p:cNvSpPr txBox="1"/>
          <p:nvPr/>
        </p:nvSpPr>
        <p:spPr>
          <a:xfrm>
            <a:off x="594360" y="257860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early_stopping=True,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validation_fraction=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n_iter_no_change=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a2_np"/>
          <p:cNvSpPr/>
          <p:nvPr/>
        </p:nvSpPr>
        <p:spPr>
          <a:xfrm>
            <a:off x="6400800" y="24688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2_nt"/>
          <p:cNvSpPr txBox="1"/>
          <p:nvPr/>
        </p:nvSpPr>
        <p:spPr>
          <a:xfrm>
            <a:off x="6537960" y="254203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Early Stopping: guarda 10% para validar e para se não melhorar em 10 épocas.</a:t>
            </a:r>
            <a:endParaRPr lang="en-US" sz="1200" dirty="0"/>
          </a:p>
        </p:txBody>
      </p:sp>
      <p:sp>
        <p:nvSpPr>
          <p:cNvPr id="11" name="a3_cp"/>
          <p:cNvSpPr/>
          <p:nvPr/>
        </p:nvSpPr>
        <p:spPr>
          <a:xfrm>
            <a:off x="457200" y="361188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3_cc"/>
          <p:cNvSpPr txBox="1"/>
          <p:nvPr/>
        </p:nvSpPr>
        <p:spPr>
          <a:xfrm>
            <a:off x="594360" y="372160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rede_neural.fit(X_treino_normalizado, y_treino)</a:t>
            </a:r>
            <a:endParaRPr lang="en-US" sz="1050" dirty="0"/>
          </a:p>
        </p:txBody>
      </p:sp>
      <p:sp>
        <p:nvSpPr>
          <p:cNvPr id="13" name="a3_np"/>
          <p:cNvSpPr/>
          <p:nvPr/>
        </p:nvSpPr>
        <p:spPr>
          <a:xfrm>
            <a:off x="6400800" y="36118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3_nt"/>
          <p:cNvSpPr txBox="1"/>
          <p:nvPr/>
        </p:nvSpPr>
        <p:spPr>
          <a:xfrm>
            <a:off x="6537960" y="368503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Treina a rede apenas com os dados de treino.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Forest: o modelo campeão</a:t>
            </a:r>
            <a:endParaRPr lang="en-US" sz="3400" dirty="0"/>
          </a:p>
        </p:txBody>
      </p:sp>
      <p:sp>
        <p:nvSpPr>
          <p:cNvPr id="3" name="a1_forest"/>
          <p:cNvSpPr/>
          <p:nvPr/>
        </p:nvSpPr>
        <p:spPr>
          <a:xfrm>
            <a:off x="457200" y="12801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a1_tree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685800" cy="685800"/>
          </a:xfrm>
          <a:prstGeom prst="rect">
            <a:avLst/>
          </a:prstGeom>
        </p:spPr>
      </p:pic>
      <p:pic>
        <p:nvPicPr>
          <p:cNvPr id="5" name="a1_tree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08760"/>
            <a:ext cx="685800" cy="685800"/>
          </a:xfrm>
          <a:prstGeom prst="rect">
            <a:avLst/>
          </a:prstGeom>
        </p:spPr>
      </p:pic>
      <p:pic>
        <p:nvPicPr>
          <p:cNvPr id="6" name="a1_tree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508760"/>
            <a:ext cx="685800" cy="685800"/>
          </a:xfrm>
          <a:prstGeom prst="rect">
            <a:avLst/>
          </a:prstGeom>
        </p:spPr>
      </p:pic>
      <p:pic>
        <p:nvPicPr>
          <p:cNvPr id="7" name="a1_tree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508760"/>
            <a:ext cx="685800" cy="685800"/>
          </a:xfrm>
          <a:prstGeom prst="rect">
            <a:avLst/>
          </a:prstGeom>
        </p:spPr>
      </p:pic>
      <p:pic>
        <p:nvPicPr>
          <p:cNvPr id="8" name="a1_tree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508760"/>
            <a:ext cx="685800" cy="685800"/>
          </a:xfrm>
          <a:prstGeom prst="rect">
            <a:avLst/>
          </a:prstGeom>
        </p:spPr>
      </p:pic>
      <p:sp>
        <p:nvSpPr>
          <p:cNvPr id="9" name="a1_ft"/>
          <p:cNvSpPr txBox="1"/>
          <p:nvPr/>
        </p:nvSpPr>
        <p:spPr>
          <a:xfrm>
            <a:off x="73152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</a:rPr>
              <a:t>100 árvores de decisão</a:t>
            </a:r>
            <a:endParaRPr lang="en-US" sz="1800" dirty="0"/>
          </a:p>
        </p:txBody>
      </p:sp>
      <p:sp>
        <p:nvSpPr>
          <p:cNvPr id="10" name="a1_fq"/>
          <p:cNvSpPr txBox="1"/>
          <p:nvPr/>
        </p:nvSpPr>
        <p:spPr>
          <a:xfrm>
            <a:off x="731520" y="2715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7F"/>
                </a:solidFill>
              </a:rPr>
              <a:t>Perguntas diretas: “Tem filhos? É doença grave?”</a:t>
            </a:r>
            <a:endParaRPr lang="en-US" sz="1300" dirty="0"/>
          </a:p>
        </p:txBody>
      </p:sp>
      <p:pic>
        <p:nvPicPr>
          <p:cNvPr id="11" name="a2_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1920240"/>
            <a:ext cx="411480" cy="411480"/>
          </a:xfrm>
          <a:prstGeom prst="rect">
            <a:avLst/>
          </a:prstGeom>
        </p:spPr>
      </p:pic>
      <p:sp>
        <p:nvSpPr>
          <p:cNvPr id="12" name="a2_vote"/>
          <p:cNvSpPr/>
          <p:nvPr/>
        </p:nvSpPr>
        <p:spPr>
          <a:xfrm>
            <a:off x="6263640" y="128016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2_votec_c"/>
          <p:cNvSpPr/>
          <p:nvPr/>
        </p:nvSpPr>
        <p:spPr>
          <a:xfrm>
            <a:off x="6400800" y="146304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4" name="a2_votec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310" y="1660550"/>
            <a:ext cx="336499" cy="336499"/>
          </a:xfrm>
          <a:prstGeom prst="rect">
            <a:avLst/>
          </a:prstGeom>
        </p:spPr>
      </p:pic>
      <p:sp>
        <p:nvSpPr>
          <p:cNvPr id="15" name="a2_votet"/>
          <p:cNvSpPr txBox="1"/>
          <p:nvPr/>
        </p:nvSpPr>
        <p:spPr>
          <a:xfrm>
            <a:off x="6400800" y="2331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Votam na melhor resposta</a:t>
            </a:r>
            <a:endParaRPr lang="en-US" sz="1500" dirty="0"/>
          </a:p>
        </p:txBody>
      </p:sp>
      <p:sp>
        <p:nvSpPr>
          <p:cNvPr id="16" name="a3_cw"/>
          <p:cNvSpPr/>
          <p:nvPr/>
        </p:nvSpPr>
        <p:spPr>
          <a:xfrm>
            <a:off x="457200" y="338328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3_cwi_c"/>
          <p:cNvSpPr/>
          <p:nvPr/>
        </p:nvSpPr>
        <p:spPr>
          <a:xfrm>
            <a:off x="640080" y="3611880"/>
            <a:ext cx="822960" cy="8229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8" name="a3_cwi_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79" y="3834079"/>
            <a:ext cx="378562" cy="378562"/>
          </a:xfrm>
          <a:prstGeom prst="rect">
            <a:avLst/>
          </a:prstGeom>
        </p:spPr>
      </p:pic>
      <p:sp>
        <p:nvSpPr>
          <p:cNvPr id="19" name="a3_cwt"/>
          <p:cNvSpPr txBox="1"/>
          <p:nvPr/>
        </p:nvSpPr>
        <p:spPr>
          <a:xfrm>
            <a:off x="1691640" y="34747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</a:rPr>
              <a:t>O grande truque: class_weight='balanced'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7A7F"/>
                </a:solidFill>
              </a:rPr>
              <a:t>Força as árvores a darem a mesma atenção a todos os tipos de falta, sem ignorar as ausências curtas.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Random Forest</a:t>
            </a:r>
            <a:endParaRPr lang="en-US" sz="3400" dirty="0"/>
          </a:p>
        </p:txBody>
      </p:sp>
      <p:sp>
        <p:nvSpPr>
          <p:cNvPr id="3" name="a1_cp"/>
          <p:cNvSpPr/>
          <p:nvPr/>
        </p:nvSpPr>
        <p:spPr>
          <a:xfrm>
            <a:off x="457200" y="1188720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_cc"/>
          <p:cNvSpPr txBox="1"/>
          <p:nvPr/>
        </p:nvSpPr>
        <p:spPr>
          <a:xfrm>
            <a:off x="594360" y="1298448"/>
            <a:ext cx="5486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modelo_floresta = RandomForestClassifier(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class_weight=</a:t>
            </a:r>
            <a:pPr indent="0" marL="0"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'balanced'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5" name="a1_np"/>
          <p:cNvSpPr/>
          <p:nvPr/>
        </p:nvSpPr>
        <p:spPr>
          <a:xfrm>
            <a:off x="6400800" y="118872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1_nt"/>
          <p:cNvSpPr txBox="1"/>
          <p:nvPr/>
        </p:nvSpPr>
        <p:spPr>
          <a:xfrm>
            <a:off x="6537960" y="1261872"/>
            <a:ext cx="20116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100 árvores. O 'balanced' dá a mesma atenção a todas as classes de falta.</a:t>
            </a:r>
            <a:endParaRPr lang="en-US" sz="1200" dirty="0"/>
          </a:p>
        </p:txBody>
      </p:sp>
      <p:sp>
        <p:nvSpPr>
          <p:cNvPr id="7" name="a2_cp"/>
          <p:cNvSpPr/>
          <p:nvPr/>
        </p:nvSpPr>
        <p:spPr>
          <a:xfrm>
            <a:off x="457200" y="246888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2_cc"/>
          <p:cNvSpPr txBox="1"/>
          <p:nvPr/>
        </p:nvSpPr>
        <p:spPr>
          <a:xfrm>
            <a:off x="594360" y="257860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modelo_floresta.fit(X_treino_normalizado, y_treino)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previsoes = modelo_floresta.predict(X_teste_normalizado)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acuracia = accuracy_score(y_teste, previsoes)</a:t>
            </a:r>
            <a:endParaRPr lang="en-US" sz="1050" dirty="0"/>
          </a:p>
        </p:txBody>
      </p:sp>
      <p:sp>
        <p:nvSpPr>
          <p:cNvPr id="9" name="a2_np"/>
          <p:cNvSpPr/>
          <p:nvPr/>
        </p:nvSpPr>
        <p:spPr>
          <a:xfrm>
            <a:off x="6400800" y="24688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2_nt"/>
          <p:cNvSpPr txBox="1"/>
          <p:nvPr/>
        </p:nvSpPr>
        <p:spPr>
          <a:xfrm>
            <a:off x="6537960" y="254203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Treina, prevê nos 20% de teste e mede a taxa de acerto.</a:t>
            </a:r>
            <a:endParaRPr lang="en-US" sz="1200" dirty="0"/>
          </a:p>
        </p:txBody>
      </p:sp>
      <p:sp>
        <p:nvSpPr>
          <p:cNvPr id="11" name="a3_cp"/>
          <p:cNvSpPr/>
          <p:nvPr/>
        </p:nvSpPr>
        <p:spPr>
          <a:xfrm>
            <a:off x="457200" y="361188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3_cc"/>
          <p:cNvSpPr txBox="1"/>
          <p:nvPr/>
        </p:nvSpPr>
        <p:spPr>
          <a:xfrm>
            <a:off x="594360" y="372160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joblib.dump(modelo_floresta, </a:t>
            </a:r>
            <a:pPr indent="0" marL="0"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'modelo_absenteismo.pkl'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joblib.dump(normalizador, </a:t>
            </a:r>
            <a:pPr indent="0" marL="0"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'normalizador_absenteismo.pkl'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a3_np"/>
          <p:cNvSpPr/>
          <p:nvPr/>
        </p:nvSpPr>
        <p:spPr>
          <a:xfrm>
            <a:off x="6400800" y="36118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3_nt"/>
          <p:cNvSpPr txBox="1"/>
          <p:nvPr/>
        </p:nvSpPr>
        <p:spPr>
          <a:xfrm>
            <a:off x="6537960" y="368503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Salva modelo e normalizador, prontos para o software da empresa.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 a máquina estudar</a:t>
            </a:r>
            <a:endParaRPr lang="en-US" sz="3400" dirty="0"/>
          </a:p>
        </p:txBody>
      </p:sp>
      <p:pic>
        <p:nvPicPr>
          <p:cNvPr id="3" name="a1_curvas" descr="Curvas de erro e acerto ao longo das époc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394960" cy="2779776"/>
          </a:xfrm>
          <a:prstGeom prst="rect">
            <a:avLst/>
          </a:prstGeom>
        </p:spPr>
      </p:pic>
      <p:sp>
        <p:nvSpPr>
          <p:cNvPr id="4" name="a2_es"/>
          <p:cNvSpPr/>
          <p:nvPr/>
        </p:nvSpPr>
        <p:spPr>
          <a:xfrm>
            <a:off x="6126480" y="1234440"/>
            <a:ext cx="2560320" cy="2779776"/>
          </a:xfrm>
          <a:prstGeom prst="roundRect">
            <a:avLst>
              <a:gd name="adj" fmla="val 4286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2_es40"/>
          <p:cNvSpPr txBox="1"/>
          <p:nvPr/>
        </p:nvSpPr>
        <p:spPr>
          <a:xfrm>
            <a:off x="6309360" y="1325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6000" dirty="0"/>
          </a:p>
        </p:txBody>
      </p:sp>
      <p:sp>
        <p:nvSpPr>
          <p:cNvPr id="6" name="a2_es40l"/>
          <p:cNvSpPr txBox="1"/>
          <p:nvPr/>
        </p:nvSpPr>
        <p:spPr>
          <a:xfrm>
            <a:off x="630936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épocas, de um limite de 2000</a:t>
            </a:r>
            <a:endParaRPr lang="en-US" sz="1400" dirty="0"/>
          </a:p>
        </p:txBody>
      </p:sp>
      <p:sp>
        <p:nvSpPr>
          <p:cNvPr id="7" name="a2_es40d"/>
          <p:cNvSpPr txBox="1"/>
          <p:nvPr/>
        </p:nvSpPr>
        <p:spPr>
          <a:xfrm>
            <a:off x="630936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Early Stopping: pára antes de começar a decorar.</a:t>
            </a:r>
            <a:endParaRPr lang="en-US" sz="1300" dirty="0"/>
          </a:p>
        </p:txBody>
      </p:sp>
      <p:sp>
        <p:nvSpPr>
          <p:cNvPr id="8" name="a3_ctxt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C49"/>
                </a:solidFill>
              </a:rPr>
              <a:t>Erro desce ladeira abaixo; taxa de acerto sobe. Parar a tempo evita que a máquina apenas “decore” as respostas.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as curvas</a:t>
            </a:r>
            <a:endParaRPr lang="en-US" sz="3400" dirty="0"/>
          </a:p>
        </p:txBody>
      </p:sp>
      <p:sp>
        <p:nvSpPr>
          <p:cNvPr id="3" name="a1_cp"/>
          <p:cNvSpPr/>
          <p:nvPr/>
        </p:nvSpPr>
        <p:spPr>
          <a:xfrm>
            <a:off x="457200" y="118872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_cc"/>
          <p:cNvSpPr txBox="1"/>
          <p:nvPr/>
        </p:nvSpPr>
        <p:spPr>
          <a:xfrm>
            <a:off x="594360" y="129844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FB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Gráfico 1: erro no treinamento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ax1.plot(rede_neural.loss_curve_)</a:t>
            </a:r>
            <a:endParaRPr lang="en-US" sz="1050" dirty="0"/>
          </a:p>
        </p:txBody>
      </p:sp>
      <p:sp>
        <p:nvSpPr>
          <p:cNvPr id="5" name="a1_np"/>
          <p:cNvSpPr/>
          <p:nvPr/>
        </p:nvSpPr>
        <p:spPr>
          <a:xfrm>
            <a:off x="6400800" y="1188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1_nt"/>
          <p:cNvSpPr txBox="1"/>
          <p:nvPr/>
        </p:nvSpPr>
        <p:spPr>
          <a:xfrm>
            <a:off x="6537960" y="126187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loss_curve_ guarda o erro de cada época: é a curva que desce.</a:t>
            </a:r>
            <a:endParaRPr lang="en-US" sz="1200" dirty="0"/>
          </a:p>
        </p:txBody>
      </p:sp>
      <p:sp>
        <p:nvSpPr>
          <p:cNvPr id="7" name="a2_cp"/>
          <p:cNvSpPr/>
          <p:nvPr/>
        </p:nvSpPr>
        <p:spPr>
          <a:xfrm>
            <a:off x="457200" y="233172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2_cc"/>
          <p:cNvSpPr txBox="1"/>
          <p:nvPr/>
        </p:nvSpPr>
        <p:spPr>
          <a:xfrm>
            <a:off x="594360" y="244144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FB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Gráfico 2: acurácia na validação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ax2.plot(rede_neural.validation_scores_)</a:t>
            </a:r>
            <a:endParaRPr lang="en-US" sz="1050" dirty="0"/>
          </a:p>
        </p:txBody>
      </p:sp>
      <p:sp>
        <p:nvSpPr>
          <p:cNvPr id="9" name="a2_np"/>
          <p:cNvSpPr/>
          <p:nvPr/>
        </p:nvSpPr>
        <p:spPr>
          <a:xfrm>
            <a:off x="6400800" y="2331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2_nt"/>
          <p:cNvSpPr txBox="1"/>
          <p:nvPr/>
        </p:nvSpPr>
        <p:spPr>
          <a:xfrm>
            <a:off x="6537960" y="240487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validation_scores_ guarda o acerto na validação: é a curva que sobe.</a:t>
            </a:r>
            <a:endParaRPr lang="en-US" sz="1200" dirty="0"/>
          </a:p>
        </p:txBody>
      </p:sp>
      <p:sp>
        <p:nvSpPr>
          <p:cNvPr id="11" name="a3_cp"/>
          <p:cNvSpPr/>
          <p:nvPr/>
        </p:nvSpPr>
        <p:spPr>
          <a:xfrm>
            <a:off x="457200" y="347472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3_cc"/>
          <p:cNvSpPr txBox="1"/>
          <p:nvPr/>
        </p:nvSpPr>
        <p:spPr>
          <a:xfrm>
            <a:off x="594360" y="358444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previsoes_rn = rede_neural.predict(X_teste_normalizado)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acuracia_rn = accuracy_score(y_teste, previsoes_rn)</a:t>
            </a:r>
            <a:endParaRPr lang="en-US" sz="1050" dirty="0"/>
          </a:p>
        </p:txBody>
      </p:sp>
      <p:sp>
        <p:nvSpPr>
          <p:cNvPr id="13" name="a3_np"/>
          <p:cNvSpPr/>
          <p:nvPr/>
        </p:nvSpPr>
        <p:spPr>
          <a:xfrm>
            <a:off x="6400800" y="3474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3_nt"/>
          <p:cNvSpPr txBox="1"/>
          <p:nvPr/>
        </p:nvSpPr>
        <p:spPr>
          <a:xfrm>
            <a:off x="6537960" y="354787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Mede a Rede Neural nos mesmos 20% de teste para comparar com o Random Forest.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prova final: dados de teste</a:t>
            </a:r>
            <a:endParaRPr lang="en-US" sz="3400" dirty="0"/>
          </a:p>
        </p:txBody>
      </p:sp>
      <p:sp>
        <p:nvSpPr>
          <p:cNvPr id="3" name="a1_chartcard"/>
          <p:cNvSpPr/>
          <p:nvPr/>
        </p:nvSpPr>
        <p:spPr>
          <a:xfrm>
            <a:off x="45720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4" name="a1_bar" descr=""/>
          <p:cNvGraphicFramePr/>
          <p:nvPr/>
        </p:nvGraphicFramePr>
        <p:xfrm>
          <a:off x="594360" y="1371600"/>
          <a:ext cx="4480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2_big"/>
          <p:cNvSpPr txBox="1"/>
          <p:nvPr/>
        </p:nvSpPr>
        <p:spPr>
          <a:xfrm>
            <a:off x="5486400" y="12801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27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74,32%</a:t>
            </a:r>
            <a:endParaRPr lang="en-US" sz="5600" dirty="0"/>
          </a:p>
        </p:txBody>
      </p:sp>
      <p:sp>
        <p:nvSpPr>
          <p:cNvPr id="6" name="a2_bigl"/>
          <p:cNvSpPr txBox="1"/>
          <p:nvPr/>
        </p:nvSpPr>
        <p:spPr>
          <a:xfrm>
            <a:off x="5486400" y="2286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3C49"/>
                </a:solidFill>
              </a:rPr>
              <a:t>de acerto do Random Forest em funcionários que nunca tinha visto</a:t>
            </a:r>
            <a:endParaRPr lang="en-US" sz="1400" dirty="0"/>
          </a:p>
        </p:txBody>
      </p:sp>
      <p:sp>
        <p:nvSpPr>
          <p:cNvPr id="7" name="a3_cm"/>
          <p:cNvSpPr/>
          <p:nvPr/>
        </p:nvSpPr>
        <p:spPr>
          <a:xfrm>
            <a:off x="5486400" y="329184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3_cmi_c"/>
          <p:cNvSpPr/>
          <p:nvPr/>
        </p:nvSpPr>
        <p:spPr>
          <a:xfrm>
            <a:off x="5623560" y="361188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9" name="a3_cmi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726" y="3797046"/>
            <a:ext cx="315468" cy="315468"/>
          </a:xfrm>
          <a:prstGeom prst="rect">
            <a:avLst/>
          </a:prstGeom>
        </p:spPr>
      </p:pic>
      <p:sp>
        <p:nvSpPr>
          <p:cNvPr id="10" name="a3_cmt"/>
          <p:cNvSpPr txBox="1"/>
          <p:nvPr/>
        </p:nvSpPr>
        <p:spPr>
          <a:xfrm>
            <a:off x="6446520" y="3337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C49"/>
                </a:solidFill>
              </a:rPr>
              <a:t>Matriz de Confusão: sem falsos alarmes e com boa separação entre falta curta e dia inteiro.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Inteligência de negócio</a:t>
            </a:r>
            <a:endParaRPr lang="en-US" sz="3400" dirty="0"/>
          </a:p>
        </p:txBody>
      </p:sp>
      <p:sp>
        <p:nvSpPr>
          <p:cNvPr id="3" name="a1_cid"/>
          <p:cNvSpPr/>
          <p:nvPr/>
        </p:nvSpPr>
        <p:spPr>
          <a:xfrm>
            <a:off x="457200" y="128016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_31"/>
          <p:cNvSpPr txBox="1"/>
          <p:nvPr/>
        </p:nvSpPr>
        <p:spPr>
          <a:xfrm>
            <a:off x="640080" y="1417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6600" dirty="0"/>
          </a:p>
        </p:txBody>
      </p:sp>
      <p:sp>
        <p:nvSpPr>
          <p:cNvPr id="5" name="a1_31l"/>
          <p:cNvSpPr txBox="1"/>
          <p:nvPr/>
        </p:nvSpPr>
        <p:spPr>
          <a:xfrm>
            <a:off x="64008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da decisão final depende da doença do funcionário (CID-10)</a:t>
            </a:r>
            <a:endParaRPr lang="en-US" sz="1600" dirty="0"/>
          </a:p>
        </p:txBody>
      </p:sp>
      <p:sp>
        <p:nvSpPr>
          <p:cNvPr id="6" name="a1_steth_c"/>
          <p:cNvSpPr/>
          <p:nvPr/>
        </p:nvSpPr>
        <p:spPr>
          <a:xfrm>
            <a:off x="640080" y="3657600"/>
            <a:ext cx="777240" cy="777240"/>
          </a:xfrm>
          <a:prstGeom prst="ellipse">
            <a:avLst/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</p:spPr>
      </p:sp>
      <p:pic>
        <p:nvPicPr>
          <p:cNvPr id="7" name="a1_steth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3867455"/>
            <a:ext cx="357530" cy="357530"/>
          </a:xfrm>
          <a:prstGeom prst="rect">
            <a:avLst/>
          </a:prstGeom>
        </p:spPr>
      </p:pic>
      <p:sp>
        <p:nvSpPr>
          <p:cNvPr id="8" name="a2_vil"/>
          <p:cNvSpPr/>
          <p:nvPr/>
        </p:nvSpPr>
        <p:spPr>
          <a:xfrm>
            <a:off x="4023360" y="1280160"/>
            <a:ext cx="46634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2_vilc_c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0" name="a2_vilc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750" y="1889150"/>
            <a:ext cx="336499" cy="336499"/>
          </a:xfrm>
          <a:prstGeom prst="rect">
            <a:avLst/>
          </a:prstGeom>
        </p:spPr>
      </p:pic>
      <p:sp>
        <p:nvSpPr>
          <p:cNvPr id="11" name="a2_vilt"/>
          <p:cNvSpPr txBox="1"/>
          <p:nvPr/>
        </p:nvSpPr>
        <p:spPr>
          <a:xfrm>
            <a:off x="5120640" y="137160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Maiores vilãs do absenteísmo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7A7F"/>
                </a:solidFill>
              </a:rPr>
              <a:t>Consultas de rotina e dores nas costas.</a:t>
            </a:r>
            <a:endParaRPr lang="en-US" sz="1600" dirty="0"/>
          </a:p>
        </p:txBody>
      </p:sp>
      <p:sp>
        <p:nvSpPr>
          <p:cNvPr id="12" name="a3_joao"/>
          <p:cNvSpPr/>
          <p:nvPr/>
        </p:nvSpPr>
        <p:spPr>
          <a:xfrm>
            <a:off x="4023360" y="3017520"/>
            <a:ext cx="4663440" cy="1645920"/>
          </a:xfrm>
          <a:prstGeom prst="roundRect">
            <a:avLst>
              <a:gd name="adj" fmla="val 6667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3_joaoc_c"/>
          <p:cNvSpPr/>
          <p:nvPr/>
        </p:nvSpPr>
        <p:spPr>
          <a:xfrm>
            <a:off x="4206240" y="347472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4" name="a3_joaoc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750" y="3672230"/>
            <a:ext cx="336499" cy="336499"/>
          </a:xfrm>
          <a:prstGeom prst="rect">
            <a:avLst/>
          </a:prstGeom>
        </p:spPr>
      </p:pic>
      <p:sp>
        <p:nvSpPr>
          <p:cNvPr id="15" name="a3_joaot"/>
          <p:cNvSpPr txBox="1"/>
          <p:nvPr/>
        </p:nvSpPr>
        <p:spPr>
          <a:xfrm>
            <a:off x="5120640" y="31089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</a:rPr>
              <a:t>O “Teste do João”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Funcionário fantasma: ao mudar apenas a doença relatada, a previsão muda na hora.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o Teste do João</a:t>
            </a:r>
            <a:endParaRPr lang="en-US" sz="3400" dirty="0"/>
          </a:p>
        </p:txBody>
      </p:sp>
      <p:sp>
        <p:nvSpPr>
          <p:cNvPr id="3" name="a1_cp"/>
          <p:cNvSpPr/>
          <p:nvPr/>
        </p:nvSpPr>
        <p:spPr>
          <a:xfrm>
            <a:off x="457200" y="118872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_cc"/>
          <p:cNvSpPr txBox="1"/>
          <p:nvPr/>
        </p:nvSpPr>
        <p:spPr>
          <a:xfrm>
            <a:off x="594360" y="129844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funcionario_ficticio = pd.DataFrame([X_treino.mean()])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funcionario_ficticio[</a:t>
            </a:r>
            <a:pPr indent="0" marL="0"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funcionario_ficticio[</a:t>
            </a:r>
            <a:pPr indent="0" marL="0"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'Son'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funcionario_ficticio[</a:t>
            </a:r>
            <a:pPr indent="0" marL="0"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'Distance from Residence to Work'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5" name="a1_np"/>
          <p:cNvSpPr/>
          <p:nvPr/>
        </p:nvSpPr>
        <p:spPr>
          <a:xfrm>
            <a:off x="6400800" y="1188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1_nt"/>
          <p:cNvSpPr txBox="1"/>
          <p:nvPr/>
        </p:nvSpPr>
        <p:spPr>
          <a:xfrm>
            <a:off x="6537960" y="126187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 João: média da empresa, 30 anos, 1 filho e 15 km de distância.</a:t>
            </a:r>
            <a:endParaRPr lang="en-US" sz="1200" dirty="0"/>
          </a:p>
        </p:txBody>
      </p:sp>
      <p:sp>
        <p:nvSpPr>
          <p:cNvPr id="7" name="a2_cp"/>
          <p:cNvSpPr/>
          <p:nvPr/>
        </p:nvSpPr>
        <p:spPr>
          <a:xfrm>
            <a:off x="457200" y="233172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2_cc"/>
          <p:cNvSpPr txBox="1"/>
          <p:nvPr/>
        </p:nvSpPr>
        <p:spPr>
          <a:xfrm>
            <a:off x="594360" y="244144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funcionario_ficticio[</a:t>
            </a:r>
            <a:pPr indent="0" marL="0"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'Reason for absence'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joao_normalizado_A = normalizador.transform(funcionario_ficticio)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previsao_A = modelo_floresta.predict(joao_normalizado_A)[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9" name="a2_np"/>
          <p:cNvSpPr/>
          <p:nvPr/>
        </p:nvSpPr>
        <p:spPr>
          <a:xfrm>
            <a:off x="6400800" y="2331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2_nt"/>
          <p:cNvSpPr txBox="1"/>
          <p:nvPr/>
        </p:nvSpPr>
        <p:spPr>
          <a:xfrm>
            <a:off x="6537960" y="240487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Cenário A: o João avisa que vai ao dentista (motivo 28).</a:t>
            </a:r>
            <a:endParaRPr lang="en-US" sz="1200" dirty="0"/>
          </a:p>
        </p:txBody>
      </p:sp>
      <p:sp>
        <p:nvSpPr>
          <p:cNvPr id="11" name="a3_cp"/>
          <p:cNvSpPr/>
          <p:nvPr/>
        </p:nvSpPr>
        <p:spPr>
          <a:xfrm>
            <a:off x="457200" y="347472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3_cc"/>
          <p:cNvSpPr txBox="1"/>
          <p:nvPr/>
        </p:nvSpPr>
        <p:spPr>
          <a:xfrm>
            <a:off x="594360" y="358444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funcionario_ficticio[</a:t>
            </a:r>
            <a:pPr indent="0" marL="0">
              <a:buNone/>
            </a:pPr>
            <a:r>
              <a:rPr lang="en-US" sz="10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'Reason for absence'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050" dirty="0">
                <a:solidFill>
                  <a:srgbClr val="9A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7FB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repete a normalização e a previsão (cenário B)</a:t>
            </a:r>
            <a:endParaRPr lang="en-US" sz="1050" dirty="0"/>
          </a:p>
        </p:txBody>
      </p:sp>
      <p:sp>
        <p:nvSpPr>
          <p:cNvPr id="13" name="a3_np"/>
          <p:cNvSpPr/>
          <p:nvPr/>
        </p:nvSpPr>
        <p:spPr>
          <a:xfrm>
            <a:off x="6400800" y="3474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3_nt"/>
          <p:cNvSpPr txBox="1"/>
          <p:nvPr/>
        </p:nvSpPr>
        <p:spPr>
          <a:xfrm>
            <a:off x="6537960" y="3547872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Cenário B: dores de costas (motivo 13). Só o motivo muda: compare as duas previsões.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A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3" name="a1_f0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</p:spPr>
      </p:sp>
      <p:sp>
        <p:nvSpPr>
          <p:cNvPr id="4" name="a1_f0ic_c"/>
          <p:cNvSpPr/>
          <p:nvPr/>
        </p:nvSpPr>
        <p:spPr>
          <a:xfrm>
            <a:off x="640080" y="1554480"/>
            <a:ext cx="777240" cy="7772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a1_f0ic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1764335"/>
            <a:ext cx="357530" cy="357530"/>
          </a:xfrm>
          <a:prstGeom prst="rect">
            <a:avLst/>
          </a:prstGeom>
        </p:spPr>
      </p:pic>
      <p:sp>
        <p:nvSpPr>
          <p:cNvPr id="6" name="a1_f0t"/>
          <p:cNvSpPr txBox="1"/>
          <p:nvPr/>
        </p:nvSpPr>
        <p:spPr>
          <a:xfrm>
            <a:off x="64008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Random Forest venceu</a:t>
            </a:r>
            <a:endParaRPr lang="en-US" sz="1800" dirty="0"/>
          </a:p>
        </p:txBody>
      </p:sp>
      <p:sp>
        <p:nvSpPr>
          <p:cNvPr id="7" name="a1_f0d"/>
          <p:cNvSpPr txBox="1"/>
          <p:nvPr/>
        </p:nvSpPr>
        <p:spPr>
          <a:xfrm>
            <a:off x="64008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74,32% de acerto contra ≈63% da Rede Neural</a:t>
            </a:r>
            <a:endParaRPr lang="en-US" sz="1400" dirty="0"/>
          </a:p>
        </p:txBody>
      </p:sp>
      <p:sp>
        <p:nvSpPr>
          <p:cNvPr id="8" name="a2_f1"/>
          <p:cNvSpPr/>
          <p:nvPr/>
        </p:nvSpPr>
        <p:spPr>
          <a:xfrm>
            <a:off x="329184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</p:spPr>
      </p:sp>
      <p:sp>
        <p:nvSpPr>
          <p:cNvPr id="9" name="a2_f1ic_c"/>
          <p:cNvSpPr/>
          <p:nvPr/>
        </p:nvSpPr>
        <p:spPr>
          <a:xfrm>
            <a:off x="3474720" y="1554480"/>
            <a:ext cx="777240" cy="7772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a2_f1ic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575" y="1764335"/>
            <a:ext cx="357530" cy="357530"/>
          </a:xfrm>
          <a:prstGeom prst="rect">
            <a:avLst/>
          </a:prstGeom>
        </p:spPr>
      </p:pic>
      <p:sp>
        <p:nvSpPr>
          <p:cNvPr id="11" name="a2_f1t"/>
          <p:cNvSpPr txBox="1"/>
          <p:nvPr/>
        </p:nvSpPr>
        <p:spPr>
          <a:xfrm>
            <a:off x="34747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Modelo transparente</a:t>
            </a:r>
            <a:endParaRPr lang="en-US" sz="1800" dirty="0"/>
          </a:p>
        </p:txBody>
      </p:sp>
      <p:sp>
        <p:nvSpPr>
          <p:cNvPr id="12" name="a2_f1d"/>
          <p:cNvSpPr txBox="1"/>
          <p:nvPr/>
        </p:nvSpPr>
        <p:spPr>
          <a:xfrm>
            <a:off x="347472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doença (CID-10) pesa 31% da decisão</a:t>
            </a:r>
            <a:endParaRPr lang="en-US" sz="1400" dirty="0"/>
          </a:p>
        </p:txBody>
      </p:sp>
      <p:sp>
        <p:nvSpPr>
          <p:cNvPr id="13" name="a3_f2"/>
          <p:cNvSpPr/>
          <p:nvPr/>
        </p:nvSpPr>
        <p:spPr>
          <a:xfrm>
            <a:off x="612648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12747A"/>
          </a:solidFill>
          <a:ln w="12700">
            <a:solidFill>
              <a:srgbClr val="12747A"/>
            </a:solidFill>
            <a:prstDash val="solid"/>
          </a:ln>
        </p:spPr>
      </p:sp>
      <p:sp>
        <p:nvSpPr>
          <p:cNvPr id="14" name="a3_f2ic_c"/>
          <p:cNvSpPr/>
          <p:nvPr/>
        </p:nvSpPr>
        <p:spPr>
          <a:xfrm>
            <a:off x="6309360" y="1554480"/>
            <a:ext cx="777240" cy="7772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5" name="a3_f2ic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215" y="1764335"/>
            <a:ext cx="357530" cy="357530"/>
          </a:xfrm>
          <a:prstGeom prst="rect">
            <a:avLst/>
          </a:prstGeom>
        </p:spPr>
      </p:pic>
      <p:sp>
        <p:nvSpPr>
          <p:cNvPr id="16" name="a3_f2t"/>
          <p:cNvSpPr txBox="1"/>
          <p:nvPr/>
        </p:nvSpPr>
        <p:spPr>
          <a:xfrm>
            <a:off x="630936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Pronto para uso</a:t>
            </a:r>
            <a:endParaRPr lang="en-US" sz="1800" dirty="0"/>
          </a:p>
        </p:txBody>
      </p:sp>
      <p:sp>
        <p:nvSpPr>
          <p:cNvPr id="17" name="a3_f2d"/>
          <p:cNvSpPr txBox="1"/>
          <p:nvPr/>
        </p:nvSpPr>
        <p:spPr>
          <a:xfrm>
            <a:off x="630936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Salvo em ficheiro, pronto para o software da empresa</a:t>
            </a:r>
            <a:endParaRPr lang="en-US" sz="1400" dirty="0"/>
          </a:p>
        </p:txBody>
      </p:sp>
      <p:sp>
        <p:nvSpPr>
          <p:cNvPr id="18" name="a4_obg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B8B5"/>
                </a:solidFill>
              </a:rPr>
              <a:t>Obrigado! Perguntas?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bsenteismo">
  <a:themeElements>
    <a:clrScheme name="Absenteismo">
      <a:dk1>
        <a:srgbClr val="0B3C49"/>
      </a:dk1>
      <a:lt1>
        <a:srgbClr val="FFFFFF"/>
      </a:lt1>
      <a:dk2>
        <a:srgbClr val="12747A"/>
      </a:dk2>
      <a:lt2>
        <a:srgbClr val="F4F8F8"/>
      </a:lt2>
      <a:accent1>
        <a:srgbClr val="12747A"/>
      </a:accent1>
      <a:accent2>
        <a:srgbClr val="F2A541"/>
      </a:accent2>
      <a:accent3>
        <a:srgbClr val="E4572E"/>
      </a:accent3>
      <a:accent4>
        <a:srgbClr val="0B3C49"/>
      </a:accent4>
      <a:accent5>
        <a:srgbClr val="7FB8B5"/>
      </a:accent5>
      <a:accent6>
        <a:srgbClr val="5B7A7F"/>
      </a:accent6>
      <a:hlink>
        <a:srgbClr val="12747A"/>
      </a:hlink>
      <a:folHlink>
        <a:srgbClr val="5B7A7F"/>
      </a:folHlink>
    </a:clrScheme>
    <a:fontScheme name="Absenteism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Absenteísmo no Trabalho</dc:title>
  <dc:subject>PptxGenJS Presentation</dc:subject>
  <dc:creator>Felipe Ribeiro de Lima</dc:creator>
  <cp:lastModifiedBy>Felipe Ribeiro de Lima</cp:lastModifiedBy>
  <cp:revision>1</cp:revision>
  <dcterms:created xsi:type="dcterms:W3CDTF">2026-10-27T20:32:15Z</dcterms:created>
  <dcterms:modified xsi:type="dcterms:W3CDTF">2026-10-27T20:32:15Z</dcterms:modified>
</cp:coreProperties>
</file>